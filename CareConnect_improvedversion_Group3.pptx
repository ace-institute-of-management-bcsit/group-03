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9"/>
  </p:notesMasterIdLst>
  <p:sldIdLst>
    <p:sldId id="262" r:id="rId2"/>
    <p:sldId id="275" r:id="rId3"/>
    <p:sldId id="276" r:id="rId4"/>
    <p:sldId id="278" r:id="rId5"/>
    <p:sldId id="269" r:id="rId6"/>
    <p:sldId id="279" r:id="rId7"/>
    <p:sldId id="280" r:id="rId8"/>
    <p:sldId id="281" r:id="rId9"/>
    <p:sldId id="282" r:id="rId10"/>
    <p:sldId id="286" r:id="rId11"/>
    <p:sldId id="293" r:id="rId12"/>
    <p:sldId id="277" r:id="rId13"/>
    <p:sldId id="290" r:id="rId14"/>
    <p:sldId id="283" r:id="rId15"/>
    <p:sldId id="284" r:id="rId16"/>
    <p:sldId id="291" r:id="rId17"/>
    <p:sldId id="266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0"/>
    <a:srgbClr val="000099"/>
    <a:srgbClr val="2E2F98"/>
    <a:srgbClr val="C0D82C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Gantt Chart for CareConnect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1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9-47FD-9CF7-AA09A29E36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8">
                  <c:v>4.3</c:v>
                </c:pt>
                <c:pt idx="9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59-47FD-9CF7-AA09A29E36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7">
                  <c:v>4.3</c:v>
                </c:pt>
                <c:pt idx="8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59-47FD-9CF7-AA09A29E36E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4-6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5">
                  <c:v>4.3</c:v>
                </c:pt>
                <c:pt idx="6">
                  <c:v>4.3</c:v>
                </c:pt>
                <c:pt idx="7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F59-47FD-9CF7-AA09A29E36E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Week 7-9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2">
                  <c:v>4.3</c:v>
                </c:pt>
                <c:pt idx="4">
                  <c:v>4.3</c:v>
                </c:pt>
                <c:pt idx="5">
                  <c:v>4.3</c:v>
                </c:pt>
                <c:pt idx="6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F59-47FD-9CF7-AA09A29E36E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week 10-11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Sheet1!$G$2:$G$12</c:f>
              <c:numCache>
                <c:formatCode>General</c:formatCode>
                <c:ptCount val="11"/>
                <c:pt idx="2">
                  <c:v>4.3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F59-47FD-9CF7-AA09A29E36E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Week 12-13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4.3</c:v>
                </c:pt>
                <c:pt idx="1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F59-47FD-9CF7-AA09A29E36E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Week 14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Final Presentation &amp; demo</c:v>
                </c:pt>
                <c:pt idx="1">
                  <c:v>End-term defense &amp; preparation</c:v>
                </c:pt>
                <c:pt idx="2">
                  <c:v>Testing &amp; integration</c:v>
                </c:pt>
                <c:pt idx="3">
                  <c:v>Mid-term report &amp; presentation</c:v>
                </c:pt>
                <c:pt idx="4">
                  <c:v>Database Development</c:v>
                </c:pt>
                <c:pt idx="5">
                  <c:v>Backend Development</c:v>
                </c:pt>
                <c:pt idx="6">
                  <c:v>Frontend Development</c:v>
                </c:pt>
                <c:pt idx="7">
                  <c:v>Requirement analysis &amp; design</c:v>
                </c:pt>
                <c:pt idx="8">
                  <c:v>Proposal Defense</c:v>
                </c:pt>
                <c:pt idx="9">
                  <c:v>Idea Generation (3 ideas)</c:v>
                </c:pt>
                <c:pt idx="10">
                  <c:v>Group Formation</c:v>
                </c:pt>
              </c:strCache>
            </c:strRef>
          </c:cat>
          <c:val>
            <c:numRef>
              <c:f>Sheet1!$I$2:$I$12</c:f>
              <c:numCache>
                <c:formatCode>General</c:formatCode>
                <c:ptCount val="1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F59-47FD-9CF7-AA09A29E3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8849519"/>
        <c:axId val="198846607"/>
      </c:barChart>
      <c:catAx>
        <c:axId val="19884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46607"/>
        <c:crosses val="autoZero"/>
        <c:auto val="1"/>
        <c:lblAlgn val="ctr"/>
        <c:lblOffset val="100"/>
        <c:noMultiLvlLbl val="0"/>
      </c:catAx>
      <c:valAx>
        <c:axId val="1988466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849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04-05-2026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12203372" cy="736270"/>
          </a:xfrm>
          <a:prstGeom prst="rect">
            <a:avLst/>
          </a:prstGeom>
          <a:gradFill>
            <a:gsLst>
              <a:gs pos="0">
                <a:srgbClr val="C0D82C"/>
              </a:gs>
              <a:gs pos="54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2E2F9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ACE INSTITUTE OF MANAEGMENT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D8F32-4B7E-234D-7608-8305F6F304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690849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C322A-68A0-418E-1745-0B1A6D7936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497430" y="2118212"/>
            <a:ext cx="7095541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872" y="1132413"/>
            <a:ext cx="5718139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872" y="1613044"/>
            <a:ext cx="5718139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25167"/>
            <a:ext cx="565616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13044"/>
            <a:ext cx="565616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8245-5B6D-3C7C-1921-BCC6F0F5C5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1C4-7436-F71F-5CC8-167D381D6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85218" y="2971801"/>
            <a:ext cx="3270249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794033" y="3619535"/>
            <a:ext cx="2679404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5/4/2026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2593520" y="2079943"/>
            <a:ext cx="7247166" cy="49933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CareConnect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2008483" y="4192433"/>
            <a:ext cx="8417239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Group 3: Jenisha Karmacharya, Ocean Pandey, Shreya Maharjan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4615803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Supervision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of Sanju Shrestha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2579279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Smart Donation &amp; Volunteer Management System</a:t>
            </a:r>
            <a:endParaRPr lang="en-US" dirty="0">
              <a:solidFill>
                <a:srgbClr val="2E30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40873" y="1136875"/>
            <a:ext cx="11580340" cy="528278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Introduction</a:t>
            </a:r>
          </a:p>
          <a:p>
            <a:pPr marL="457200" indent="-457200">
              <a:buAutoNum type="arabicPeriod"/>
            </a:pPr>
            <a:r>
              <a:rPr lang="en-US" dirty="0" smtClean="0"/>
              <a:t>Problem Statement</a:t>
            </a:r>
          </a:p>
          <a:p>
            <a:pPr marL="457200" indent="-457200">
              <a:buAutoNum type="arabicPeriod"/>
            </a:pPr>
            <a:r>
              <a:rPr lang="en-US" dirty="0" smtClean="0"/>
              <a:t>Challenges</a:t>
            </a:r>
          </a:p>
          <a:p>
            <a:pPr marL="457200" indent="-457200">
              <a:buAutoNum type="arabicPeriod"/>
            </a:pPr>
            <a:r>
              <a:rPr lang="en-US" dirty="0" smtClean="0"/>
              <a:t>Literature Review</a:t>
            </a:r>
          </a:p>
          <a:p>
            <a:pPr marL="457200" indent="-457200">
              <a:buAutoNum type="arabicPeriod"/>
            </a:pPr>
            <a:r>
              <a:rPr lang="en-US" dirty="0" smtClean="0"/>
              <a:t>Objectives</a:t>
            </a:r>
          </a:p>
          <a:p>
            <a:pPr marL="457200" indent="-457200">
              <a:buAutoNum type="arabicPeriod"/>
            </a:pPr>
            <a:r>
              <a:rPr lang="en-US" dirty="0" smtClean="0"/>
              <a:t>Methodology</a:t>
            </a:r>
          </a:p>
          <a:p>
            <a:pPr marL="457200" indent="-457200">
              <a:buAutoNum type="arabicPeriod"/>
            </a:pPr>
            <a:r>
              <a:rPr lang="en-US" dirty="0" smtClean="0"/>
              <a:t>Feasibility Study</a:t>
            </a:r>
          </a:p>
          <a:p>
            <a:pPr marL="457200" indent="-457200">
              <a:buAutoNum type="arabicPeriod"/>
            </a:pPr>
            <a:r>
              <a:rPr lang="en-US" dirty="0" smtClean="0"/>
              <a:t>Features</a:t>
            </a:r>
          </a:p>
          <a:p>
            <a:pPr marL="457200" indent="-457200">
              <a:buAutoNum type="arabicPeriod"/>
            </a:pPr>
            <a:r>
              <a:rPr lang="en-US" dirty="0" smtClean="0"/>
              <a:t>Gantt Chart and Task Division</a:t>
            </a:r>
          </a:p>
          <a:p>
            <a:pPr marL="457200" indent="-457200">
              <a:buAutoNum type="arabicPeriod"/>
            </a:pPr>
            <a:r>
              <a:rPr lang="en-US" dirty="0" smtClean="0"/>
              <a:t>Tech Stack</a:t>
            </a:r>
          </a:p>
          <a:p>
            <a:pPr marL="457200" indent="-457200">
              <a:buAutoNum type="arabicPeriod"/>
            </a:pPr>
            <a:r>
              <a:rPr lang="en-US" dirty="0" smtClean="0"/>
              <a:t>Comparison with Existing Systems</a:t>
            </a:r>
          </a:p>
          <a:p>
            <a:pPr marL="457200" indent="-457200">
              <a:buAutoNum type="arabicPeriod"/>
            </a:pPr>
            <a:r>
              <a:rPr lang="en-US" dirty="0" smtClean="0"/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52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Rising need for organized charity and volunteering </a:t>
            </a:r>
            <a:r>
              <a:rPr lang="en-US" dirty="0" smtClean="0"/>
              <a:t>systems</a:t>
            </a:r>
          </a:p>
          <a:p>
            <a:r>
              <a:rPr lang="en-US" dirty="0"/>
              <a:t>Many people want to help but lack proper </a:t>
            </a:r>
            <a:r>
              <a:rPr lang="en-US" dirty="0" smtClean="0"/>
              <a:t>platforms</a:t>
            </a:r>
          </a:p>
          <a:p>
            <a:r>
              <a:rPr lang="en-US" dirty="0"/>
              <a:t>NGOs struggle with managing donations and </a:t>
            </a:r>
            <a:r>
              <a:rPr lang="en-US" dirty="0" smtClean="0"/>
              <a:t>volunteers</a:t>
            </a:r>
          </a:p>
          <a:p>
            <a:r>
              <a:rPr lang="en-US" dirty="0"/>
              <a:t>Increasing internet access has made digital charity platforms more practical and </a:t>
            </a:r>
            <a:r>
              <a:rPr lang="en-US" dirty="0" smtClean="0"/>
              <a:t>scalable</a:t>
            </a:r>
          </a:p>
          <a:p>
            <a:r>
              <a:rPr lang="en-US" dirty="0"/>
              <a:t>People prefer quick, transparent, and reliable ways to contribute to social </a:t>
            </a:r>
            <a:r>
              <a:rPr lang="en-US" dirty="0" smtClean="0"/>
              <a:t>causes</a:t>
            </a:r>
          </a:p>
          <a:p>
            <a:r>
              <a:rPr lang="en-US" dirty="0"/>
              <a:t>Technology can bridge the gap between donors, volunteers, and those in need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Charitable organizations like orphanages and old age homes face difficulty in </a:t>
            </a:r>
            <a:r>
              <a:rPr lang="en-US" dirty="0" smtClean="0"/>
              <a:t>managing donations </a:t>
            </a:r>
            <a:r>
              <a:rPr lang="en-US" dirty="0"/>
              <a:t>and coordinating volunteers which leads to </a:t>
            </a:r>
            <a:endParaRPr lang="en-US" dirty="0" smtClean="0"/>
          </a:p>
          <a:p>
            <a:pPr marL="514350" indent="-514350">
              <a:buAutoNum type="romanLcParenR"/>
            </a:pPr>
            <a:r>
              <a:rPr lang="en-US" dirty="0" smtClean="0"/>
              <a:t>Miscommunication</a:t>
            </a:r>
            <a:endParaRPr lang="en-US" dirty="0"/>
          </a:p>
          <a:p>
            <a:pPr marL="514350" indent="-514350">
              <a:buAutoNum type="romanLcParenR"/>
            </a:pPr>
            <a:r>
              <a:rPr lang="en-US" dirty="0" smtClean="0"/>
              <a:t>underutilized resources and</a:t>
            </a:r>
          </a:p>
          <a:p>
            <a:pPr marL="514350" indent="-514350">
              <a:buAutoNum type="romanLcParenR"/>
            </a:pPr>
            <a:r>
              <a:rPr lang="en-US" dirty="0" smtClean="0"/>
              <a:t> </a:t>
            </a:r>
            <a:r>
              <a:rPr lang="en-US" dirty="0"/>
              <a:t>reduced social impact. </a:t>
            </a:r>
            <a:endParaRPr lang="en-US" dirty="0" smtClean="0"/>
          </a:p>
          <a:p>
            <a:r>
              <a:rPr lang="en-US" dirty="0" smtClean="0"/>
              <a:t>CareConnect aims </a:t>
            </a:r>
            <a:r>
              <a:rPr lang="en-US" dirty="0"/>
              <a:t>to create an integrated system </a:t>
            </a:r>
            <a:r>
              <a:rPr lang="en-US" dirty="0" smtClean="0"/>
              <a:t>that connects </a:t>
            </a:r>
            <a:r>
              <a:rPr lang="en-US" dirty="0"/>
              <a:t>all stakeholders for efficient donation and volunteer management.</a:t>
            </a:r>
          </a:p>
        </p:txBody>
      </p:sp>
    </p:spTree>
    <p:extLst>
      <p:ext uri="{BB962C8B-B14F-4D97-AF65-F5344CB8AC3E}">
        <p14:creationId xmlns:p14="http://schemas.microsoft.com/office/powerpoint/2010/main" val="233802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Ensuring </a:t>
            </a:r>
            <a:r>
              <a:rPr lang="en-US" dirty="0"/>
              <a:t>secure and reliable donation </a:t>
            </a:r>
            <a:r>
              <a:rPr lang="en-US" dirty="0" smtClean="0"/>
              <a:t>transactions</a:t>
            </a:r>
          </a:p>
          <a:p>
            <a:pPr marL="457200" indent="-457200">
              <a:buAutoNum type="arabicPeriod"/>
            </a:pPr>
            <a:r>
              <a:rPr lang="en-US" dirty="0" smtClean="0"/>
              <a:t>Maintaining </a:t>
            </a:r>
            <a:r>
              <a:rPr lang="en-US" dirty="0"/>
              <a:t>transparency and trust in the </a:t>
            </a:r>
            <a:r>
              <a:rPr lang="en-US" dirty="0" smtClean="0"/>
              <a:t>system</a:t>
            </a:r>
          </a:p>
          <a:p>
            <a:pPr marL="457200" indent="-457200">
              <a:buAutoNum type="arabicPeriod"/>
            </a:pPr>
            <a:r>
              <a:rPr lang="en-US" dirty="0" smtClean="0"/>
              <a:t>Managing </a:t>
            </a:r>
            <a:r>
              <a:rPr lang="en-US" dirty="0"/>
              <a:t>real-time updates of needs and </a:t>
            </a:r>
            <a:r>
              <a:rPr lang="en-US" dirty="0" smtClean="0"/>
              <a:t>contributions</a:t>
            </a:r>
          </a:p>
          <a:p>
            <a:pPr marL="457200" indent="-457200">
              <a:buAutoNum type="arabicPeriod"/>
            </a:pPr>
            <a:r>
              <a:rPr lang="en-US" dirty="0" smtClean="0"/>
              <a:t>Handling </a:t>
            </a:r>
            <a:r>
              <a:rPr lang="en-US" dirty="0"/>
              <a:t>multiple user roles (Admin, Donor, Volunteer, </a:t>
            </a:r>
            <a:r>
              <a:rPr lang="en-US" dirty="0" smtClean="0"/>
              <a:t>Organization)</a:t>
            </a:r>
          </a:p>
          <a:p>
            <a:pPr marL="457200" indent="-457200">
              <a:buAutoNum type="arabicPeriod"/>
            </a:pPr>
            <a:r>
              <a:rPr lang="en-US" dirty="0" smtClean="0"/>
              <a:t>Designing </a:t>
            </a:r>
            <a:r>
              <a:rPr lang="en-US" dirty="0"/>
              <a:t>an easy-to-use and accessible </a:t>
            </a:r>
            <a:r>
              <a:rPr lang="en-US" dirty="0" smtClean="0"/>
              <a:t>interface</a:t>
            </a:r>
          </a:p>
          <a:p>
            <a:pPr marL="457200" indent="-457200">
              <a:buAutoNum type="arabicPeriod"/>
            </a:pPr>
            <a:r>
              <a:rPr lang="en-US" dirty="0" smtClean="0"/>
              <a:t>Keeping </a:t>
            </a:r>
            <a:r>
              <a:rPr lang="en-US" dirty="0"/>
              <a:t>users engaged and active on the </a:t>
            </a:r>
            <a:r>
              <a:rPr lang="en-US" dirty="0" smtClean="0"/>
              <a:t>platform</a:t>
            </a:r>
          </a:p>
          <a:p>
            <a:pPr marL="457200" indent="-457200">
              <a:buAutoNum type="arabicPeriod"/>
            </a:pPr>
            <a:r>
              <a:rPr lang="en-US" dirty="0" smtClean="0"/>
              <a:t>Protecting </a:t>
            </a:r>
            <a:r>
              <a:rPr lang="en-US" dirty="0"/>
              <a:t>user data and preventing misuse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Literature Review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Platforms like:</a:t>
            </a:r>
          </a:p>
          <a:p>
            <a:pPr marL="457200" indent="-457200">
              <a:buFont typeface="+mj-lt"/>
              <a:buAutoNum type="alphaLcParenR"/>
            </a:pPr>
            <a:r>
              <a:rPr lang="en-US" b="1" dirty="0" smtClean="0"/>
              <a:t>GoFundMe</a:t>
            </a:r>
            <a:r>
              <a:rPr lang="en-US" dirty="0" smtClean="0"/>
              <a:t> </a:t>
            </a:r>
            <a:r>
              <a:rPr lang="en-US" dirty="0"/>
              <a:t>focus on </a:t>
            </a:r>
            <a:r>
              <a:rPr lang="en-US" dirty="0" smtClean="0"/>
              <a:t>fundraising</a:t>
            </a:r>
          </a:p>
          <a:p>
            <a:pPr marL="457200" indent="-457200">
              <a:buFont typeface="+mj-lt"/>
              <a:buAutoNum type="alphaLcParenR"/>
            </a:pPr>
            <a:r>
              <a:rPr lang="en-US" b="1" dirty="0" smtClean="0"/>
              <a:t>VolunteerMatch</a:t>
            </a:r>
            <a:r>
              <a:rPr lang="en-US" dirty="0" smtClean="0"/>
              <a:t> </a:t>
            </a:r>
            <a:r>
              <a:rPr lang="en-US" dirty="0"/>
              <a:t>connects volunteers but lacks donation </a:t>
            </a:r>
            <a:r>
              <a:rPr lang="en-US" dirty="0" smtClean="0"/>
              <a:t>features</a:t>
            </a:r>
          </a:p>
          <a:p>
            <a:pPr marL="457200" indent="-457200">
              <a:buFont typeface="+mj-lt"/>
              <a:buAutoNum type="alphaLcParenR"/>
            </a:pPr>
            <a:r>
              <a:rPr lang="en-US" b="1" dirty="0" smtClean="0"/>
              <a:t>Salesforce </a:t>
            </a:r>
            <a:r>
              <a:rPr lang="en-US" b="1" dirty="0"/>
              <a:t>Nonprofit Cloud </a:t>
            </a:r>
            <a:r>
              <a:rPr lang="en-US" dirty="0"/>
              <a:t>offers integrated tools but is costly and </a:t>
            </a:r>
            <a:r>
              <a:rPr lang="en-US" dirty="0" smtClean="0"/>
              <a:t>complex</a:t>
            </a:r>
          </a:p>
          <a:p>
            <a:pPr marL="457200" indent="-457200">
              <a:buFont typeface="+mj-lt"/>
              <a:buAutoNum type="alphaLcParenR"/>
            </a:pPr>
            <a:r>
              <a:rPr lang="en-US" b="1" dirty="0" smtClean="0"/>
              <a:t>Charity </a:t>
            </a:r>
            <a:r>
              <a:rPr lang="en-US" b="1" dirty="0"/>
              <a:t>Navigator </a:t>
            </a:r>
            <a:r>
              <a:rPr lang="en-US" dirty="0"/>
              <a:t>evaluates NGOs based on transparency, accountability, and financial </a:t>
            </a:r>
            <a:r>
              <a:rPr lang="en-US" dirty="0" smtClean="0"/>
              <a:t>health</a:t>
            </a:r>
          </a:p>
          <a:p>
            <a:pPr marL="0" indent="0">
              <a:buNone/>
            </a:pPr>
            <a:r>
              <a:rPr lang="en-US" dirty="0" smtClean="0"/>
              <a:t>2. Gap</a:t>
            </a:r>
            <a:r>
              <a:rPr lang="en-US" dirty="0"/>
              <a:t>: No simple, affordable system combining donation </a:t>
            </a:r>
            <a:r>
              <a:rPr lang="en-US" dirty="0" smtClean="0"/>
              <a:t>and volunteer </a:t>
            </a:r>
            <a:r>
              <a:rPr lang="en-US" dirty="0"/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376250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Develop </a:t>
            </a:r>
            <a:r>
              <a:rPr lang="en-US" dirty="0"/>
              <a:t>an integrated donation and volunteer </a:t>
            </a:r>
            <a:r>
              <a:rPr lang="en-US" dirty="0" smtClean="0"/>
              <a:t>system</a:t>
            </a:r>
          </a:p>
          <a:p>
            <a:pPr marL="457200" indent="-457200">
              <a:buAutoNum type="arabicPeriod"/>
            </a:pPr>
            <a:r>
              <a:rPr lang="en-US" dirty="0"/>
              <a:t>Ensure transparency and </a:t>
            </a:r>
            <a:r>
              <a:rPr lang="en-US" dirty="0" smtClean="0"/>
              <a:t>trust</a:t>
            </a:r>
          </a:p>
          <a:p>
            <a:pPr marL="457200" indent="-457200">
              <a:buAutoNum type="arabicPeriod"/>
            </a:pPr>
            <a:r>
              <a:rPr lang="en-US" dirty="0"/>
              <a:t>Provide easy registration for donors and </a:t>
            </a:r>
            <a:r>
              <a:rPr lang="en-US" dirty="0" smtClean="0"/>
              <a:t>volunteers</a:t>
            </a:r>
          </a:p>
          <a:p>
            <a:pPr marL="457200" indent="-457200">
              <a:buAutoNum type="arabicPeriod"/>
            </a:pPr>
            <a:r>
              <a:rPr lang="en-US" dirty="0"/>
              <a:t>Enable real-time tracking of activities</a:t>
            </a:r>
            <a:endParaRPr lang="en-US" dirty="0" smtClean="0"/>
          </a:p>
          <a:p>
            <a:pPr marL="457200" indent="-457200">
              <a:buAutoNum type="arabicPeriod"/>
            </a:pPr>
            <a:r>
              <a:rPr lang="en-US" dirty="0" smtClean="0"/>
              <a:t>Enable </a:t>
            </a:r>
            <a:r>
              <a:rPr lang="en-US" dirty="0"/>
              <a:t>donors to contribute easily and securely</a:t>
            </a:r>
          </a:p>
        </p:txBody>
      </p:sp>
    </p:spTree>
    <p:extLst>
      <p:ext uri="{BB962C8B-B14F-4D97-AF65-F5344CB8AC3E}">
        <p14:creationId xmlns:p14="http://schemas.microsoft.com/office/powerpoint/2010/main" val="145794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rPr lang="en-US" b="1" dirty="0" smtClean="0"/>
              <a:t>Requirement Analysis</a:t>
            </a:r>
          </a:p>
          <a:p>
            <a:r>
              <a:rPr lang="en-US" dirty="0" smtClean="0"/>
              <a:t>Gather </a:t>
            </a:r>
            <a:r>
              <a:rPr lang="en-US" dirty="0"/>
              <a:t>needs from donors, volunteer, </a:t>
            </a:r>
            <a:r>
              <a:rPr lang="en-US" dirty="0" smtClean="0"/>
              <a:t>and organizations</a:t>
            </a:r>
          </a:p>
          <a:p>
            <a:pPr marL="0" lvl="0" indent="0">
              <a:buNone/>
            </a:pPr>
            <a:r>
              <a:rPr lang="en-US" b="1" dirty="0" smtClean="0"/>
              <a:t>2. System Design</a:t>
            </a:r>
          </a:p>
          <a:p>
            <a:r>
              <a:rPr lang="en-US" dirty="0" smtClean="0"/>
              <a:t>UML diagrams and database design</a:t>
            </a:r>
          </a:p>
          <a:p>
            <a:pPr marL="0" indent="0">
              <a:buNone/>
            </a:pPr>
            <a:r>
              <a:rPr lang="en-US" b="1" dirty="0"/>
              <a:t>3</a:t>
            </a:r>
            <a:r>
              <a:rPr lang="en-US" b="1" dirty="0" smtClean="0"/>
              <a:t>. </a:t>
            </a:r>
            <a:r>
              <a:rPr lang="en-US" b="1" dirty="0" smtClean="0"/>
              <a:t>Testing</a:t>
            </a:r>
          </a:p>
          <a:p>
            <a:r>
              <a:rPr lang="en-US" dirty="0" smtClean="0"/>
              <a:t>Perform </a:t>
            </a:r>
            <a:r>
              <a:rPr lang="en-US" dirty="0"/>
              <a:t>unit, integration and user acceptance </a:t>
            </a:r>
            <a:r>
              <a:rPr lang="en-US" dirty="0" smtClean="0"/>
              <a:t>testing</a:t>
            </a:r>
            <a:endParaRPr lang="en-US" dirty="0"/>
          </a:p>
          <a:p>
            <a:pPr marL="457200" lvl="0" indent="-457200">
              <a:buAutoNum type="arabicPeriod"/>
            </a:pPr>
            <a:endParaRPr lang="en-US" dirty="0" smtClean="0"/>
          </a:p>
          <a:p>
            <a:pPr marL="457200" lvl="0" indent="-457200">
              <a:buAutoNum type="arabicPeriod"/>
            </a:pPr>
            <a:endParaRPr lang="en-US" dirty="0"/>
          </a:p>
          <a:p>
            <a:pPr marL="457200" lvl="0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591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Feasibility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 smtClean="0"/>
              <a:t>Technical Feasibility</a:t>
            </a:r>
          </a:p>
          <a:p>
            <a:r>
              <a:rPr lang="fr-FR" dirty="0"/>
              <a:t>Uses common </a:t>
            </a:r>
            <a:r>
              <a:rPr lang="fr-FR" dirty="0" smtClean="0"/>
              <a:t>technologies: HTML</a:t>
            </a:r>
            <a:r>
              <a:rPr lang="fr-FR" dirty="0"/>
              <a:t>, JS, </a:t>
            </a:r>
            <a:r>
              <a:rPr lang="fr-FR" dirty="0" smtClean="0"/>
              <a:t>database, CSS</a:t>
            </a:r>
          </a:p>
          <a:p>
            <a:r>
              <a:rPr lang="fr-FR" dirty="0" smtClean="0"/>
              <a:t> </a:t>
            </a:r>
            <a:r>
              <a:rPr lang="en-US" dirty="0" smtClean="0"/>
              <a:t>Hosting </a:t>
            </a:r>
            <a:r>
              <a:rPr lang="en-US" dirty="0"/>
              <a:t>platforms are </a:t>
            </a:r>
            <a:r>
              <a:rPr lang="en-US" dirty="0" smtClean="0"/>
              <a:t>accessible</a:t>
            </a:r>
          </a:p>
          <a:p>
            <a:pPr marL="0" indent="0" algn="just">
              <a:buNone/>
            </a:pPr>
            <a:r>
              <a:rPr lang="en-US" b="1" dirty="0" smtClean="0"/>
              <a:t>2. Economic Feasibility</a:t>
            </a:r>
          </a:p>
          <a:p>
            <a:pPr algn="just"/>
            <a:r>
              <a:rPr lang="en-US" dirty="0" smtClean="0"/>
              <a:t>Low </a:t>
            </a:r>
            <a:r>
              <a:rPr lang="en-US" dirty="0"/>
              <a:t>development cost </a:t>
            </a:r>
            <a:endParaRPr lang="en-US" dirty="0" smtClean="0"/>
          </a:p>
          <a:p>
            <a:pPr algn="just"/>
            <a:r>
              <a:rPr lang="en-US" dirty="0" smtClean="0"/>
              <a:t>Open-source </a:t>
            </a:r>
            <a:r>
              <a:rPr lang="en-US" dirty="0"/>
              <a:t>tools can be </a:t>
            </a:r>
            <a:r>
              <a:rPr lang="en-US" dirty="0" smtClean="0"/>
              <a:t>used</a:t>
            </a:r>
          </a:p>
          <a:p>
            <a:pPr marL="0" indent="0">
              <a:buNone/>
            </a:pPr>
            <a:r>
              <a:rPr lang="en-US" b="1" dirty="0" smtClean="0"/>
              <a:t>3. Operational Feasibility</a:t>
            </a:r>
          </a:p>
          <a:p>
            <a:r>
              <a:rPr lang="en-US" dirty="0" smtClean="0"/>
              <a:t>Easy-to-use </a:t>
            </a:r>
            <a:r>
              <a:rPr lang="en-US" dirty="0"/>
              <a:t>interface for all </a:t>
            </a:r>
            <a:r>
              <a:rPr lang="en-US" dirty="0" smtClean="0"/>
              <a:t>users and minimal </a:t>
            </a:r>
            <a:r>
              <a:rPr lang="en-US" dirty="0"/>
              <a:t>training </a:t>
            </a:r>
            <a:r>
              <a:rPr lang="en-US" dirty="0" smtClean="0"/>
              <a:t>required</a:t>
            </a:r>
          </a:p>
          <a:p>
            <a:r>
              <a:rPr lang="en-US" dirty="0" smtClean="0"/>
              <a:t>Practical </a:t>
            </a:r>
            <a:r>
              <a:rPr lang="en-US" dirty="0"/>
              <a:t>and useful in real-life scenarios</a:t>
            </a:r>
          </a:p>
        </p:txBody>
      </p:sp>
    </p:spTree>
    <p:extLst>
      <p:ext uri="{BB962C8B-B14F-4D97-AF65-F5344CB8AC3E}">
        <p14:creationId xmlns:p14="http://schemas.microsoft.com/office/powerpoint/2010/main" val="2912797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lvl="0" indent="-457200">
              <a:buAutoNum type="arabicPeriod"/>
            </a:pPr>
            <a:r>
              <a:rPr lang="en-US" dirty="0" smtClean="0"/>
              <a:t>User </a:t>
            </a:r>
            <a:r>
              <a:rPr lang="en-US" dirty="0"/>
              <a:t>Registration </a:t>
            </a:r>
            <a:r>
              <a:rPr lang="en-US" dirty="0" smtClean="0"/>
              <a:t>and </a:t>
            </a:r>
            <a:r>
              <a:rPr lang="en-US" dirty="0"/>
              <a:t>Role Management (Donor, Volunteer, </a:t>
            </a:r>
            <a:r>
              <a:rPr lang="en-US" dirty="0" smtClean="0"/>
              <a:t>Admin)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Donation Management (Money and </a:t>
            </a:r>
            <a:r>
              <a:rPr lang="en-US" dirty="0"/>
              <a:t>Item </a:t>
            </a:r>
            <a:r>
              <a:rPr lang="en-US" dirty="0" smtClean="0"/>
              <a:t>Donations)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Volunteer Registration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Organizations dashboard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Event Management (Create</a:t>
            </a:r>
            <a:r>
              <a:rPr lang="en-US" dirty="0"/>
              <a:t>, Join, </a:t>
            </a:r>
            <a:r>
              <a:rPr lang="en-US" dirty="0" smtClean="0"/>
              <a:t>Track)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Transparent </a:t>
            </a:r>
            <a:r>
              <a:rPr lang="en-US" dirty="0"/>
              <a:t>Donation Records </a:t>
            </a:r>
            <a:r>
              <a:rPr lang="en-US" dirty="0" smtClean="0"/>
              <a:t>and Reports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Dashboard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/>
              <a:t>Analytics </a:t>
            </a:r>
            <a:r>
              <a:rPr lang="en-US" dirty="0" smtClean="0"/>
              <a:t>(Donor and </a:t>
            </a:r>
            <a:r>
              <a:rPr lang="en-US" dirty="0"/>
              <a:t>Admin </a:t>
            </a:r>
            <a:r>
              <a:rPr lang="en-US" dirty="0" smtClean="0"/>
              <a:t>Insights)</a:t>
            </a:r>
          </a:p>
          <a:p>
            <a:pPr marL="457200" lvl="0" indent="-457200">
              <a:buAutoNum type="arabicPeriod"/>
            </a:pPr>
            <a:r>
              <a:rPr lang="en-US" dirty="0" smtClean="0"/>
              <a:t>Communication and </a:t>
            </a:r>
            <a:r>
              <a:rPr lang="en-US" dirty="0"/>
              <a:t>Notification </a:t>
            </a:r>
            <a:endParaRPr lang="en-US" dirty="0"/>
          </a:p>
          <a:p>
            <a:pPr marL="457200" lvl="0" indent="-457200">
              <a:buAutoNum type="arabicPeriod"/>
            </a:pPr>
            <a:r>
              <a:rPr lang="en-US" dirty="0" smtClean="0"/>
              <a:t>Notify donor through email</a:t>
            </a:r>
            <a:endParaRPr lang="en-US" dirty="0" smtClean="0"/>
          </a:p>
          <a:p>
            <a:pPr marL="457200" lvl="0" indent="-457200">
              <a:buAutoNum type="arabicPeriod"/>
            </a:pPr>
            <a:r>
              <a:rPr lang="en-US" dirty="0" smtClean="0"/>
              <a:t>Secure </a:t>
            </a:r>
            <a:r>
              <a:rPr lang="en-US" dirty="0"/>
              <a:t>Authentication </a:t>
            </a:r>
            <a:r>
              <a:rPr lang="en-US" dirty="0" smtClean="0"/>
              <a:t>and </a:t>
            </a:r>
            <a:r>
              <a:rPr lang="en-US" dirty="0"/>
              <a:t>Data Protection</a:t>
            </a:r>
          </a:p>
        </p:txBody>
      </p:sp>
    </p:spTree>
    <p:extLst>
      <p:ext uri="{BB962C8B-B14F-4D97-AF65-F5344CB8AC3E}">
        <p14:creationId xmlns:p14="http://schemas.microsoft.com/office/powerpoint/2010/main" val="72524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Gantt Chart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4816667"/>
              </p:ext>
            </p:extLst>
          </p:nvPr>
        </p:nvGraphicFramePr>
        <p:xfrm>
          <a:off x="250825" y="1231900"/>
          <a:ext cx="11690350" cy="522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6292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Task Division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40873" y="1231143"/>
            <a:ext cx="4001190" cy="490570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Ocean:</a:t>
            </a:r>
            <a:endParaRPr lang="en-US" b="1" dirty="0"/>
          </a:p>
          <a:p>
            <a:r>
              <a:rPr lang="en-US" dirty="0"/>
              <a:t>Develop UI using HTML, CSS, JavaScript, React.js </a:t>
            </a:r>
          </a:p>
          <a:p>
            <a:r>
              <a:rPr lang="en-US" dirty="0"/>
              <a:t>Work on form design and user interface consistency </a:t>
            </a:r>
          </a:p>
          <a:p>
            <a:r>
              <a:rPr lang="en-US" dirty="0"/>
              <a:t>Assist in connecting frontend with backend APIs </a:t>
            </a:r>
          </a:p>
          <a:p>
            <a:r>
              <a:rPr lang="en-US" dirty="0"/>
              <a:t>Participate in testing and bug fixing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242063" y="1231142"/>
            <a:ext cx="3733013" cy="4905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Shreya: </a:t>
            </a:r>
          </a:p>
          <a:p>
            <a:r>
              <a:rPr lang="en-US" dirty="0" smtClean="0"/>
              <a:t>Develop </a:t>
            </a:r>
            <a:r>
              <a:rPr lang="en-US" dirty="0"/>
              <a:t>backend using Node.js and Express.js </a:t>
            </a:r>
          </a:p>
          <a:p>
            <a:r>
              <a:rPr lang="en-US" dirty="0"/>
              <a:t>Create and </a:t>
            </a:r>
            <a:r>
              <a:rPr lang="en-US" dirty="0" smtClean="0"/>
              <a:t>manage APIs </a:t>
            </a:r>
            <a:endParaRPr lang="en-US" dirty="0"/>
          </a:p>
          <a:p>
            <a:r>
              <a:rPr lang="en-US" dirty="0"/>
              <a:t>Support frontend integration with APIs </a:t>
            </a:r>
          </a:p>
          <a:p>
            <a:r>
              <a:rPr lang="en-US" dirty="0"/>
              <a:t>Assist in database structure and testing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041064" y="1231142"/>
            <a:ext cx="3733015" cy="4905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Jenisha:</a:t>
            </a:r>
            <a:endParaRPr lang="en-US" b="1" dirty="0"/>
          </a:p>
          <a:p>
            <a:r>
              <a:rPr lang="en-US" dirty="0"/>
              <a:t>Design and manage MySQL database </a:t>
            </a:r>
          </a:p>
          <a:p>
            <a:r>
              <a:rPr lang="en-US" dirty="0"/>
              <a:t>Test system functionalities using Postman </a:t>
            </a:r>
          </a:p>
          <a:p>
            <a:r>
              <a:rPr lang="en-US" dirty="0"/>
              <a:t>Support frontend and backend integration </a:t>
            </a:r>
          </a:p>
          <a:p>
            <a:r>
              <a:rPr lang="en-US" dirty="0"/>
              <a:t>Handle debugging and system validation</a:t>
            </a:r>
          </a:p>
        </p:txBody>
      </p:sp>
    </p:spTree>
    <p:extLst>
      <p:ext uri="{BB962C8B-B14F-4D97-AF65-F5344CB8AC3E}">
        <p14:creationId xmlns:p14="http://schemas.microsoft.com/office/powerpoint/2010/main" val="2925062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Task Division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40872" y="1155728"/>
            <a:ext cx="11457791" cy="490570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Common </a:t>
            </a:r>
            <a:r>
              <a:rPr lang="en-US" b="1" dirty="0" smtClean="0"/>
              <a:t>Work</a:t>
            </a:r>
          </a:p>
          <a:p>
            <a:r>
              <a:rPr lang="en-US" dirty="0" smtClean="0"/>
              <a:t>Requirement </a:t>
            </a:r>
            <a:r>
              <a:rPr lang="en-US" dirty="0"/>
              <a:t>discussion and system design </a:t>
            </a:r>
          </a:p>
          <a:p>
            <a:r>
              <a:rPr lang="en-US" dirty="0"/>
              <a:t>Collaborative coding and integration </a:t>
            </a:r>
          </a:p>
          <a:p>
            <a:r>
              <a:rPr lang="en-US" dirty="0"/>
              <a:t>Version control </a:t>
            </a:r>
            <a:r>
              <a:rPr lang="en-US" dirty="0" smtClean="0"/>
              <a:t>using GitHub </a:t>
            </a:r>
            <a:endParaRPr lang="en-US" dirty="0"/>
          </a:p>
          <a:p>
            <a:r>
              <a:rPr lang="en-US" dirty="0"/>
              <a:t>Project tracking using Jira </a:t>
            </a:r>
          </a:p>
          <a:p>
            <a:r>
              <a:rPr lang="en-US" dirty="0"/>
              <a:t>Final testing, documentation, and presentation preparation</a:t>
            </a:r>
          </a:p>
        </p:txBody>
      </p:sp>
    </p:spTree>
    <p:extLst>
      <p:ext uri="{BB962C8B-B14F-4D97-AF65-F5344CB8AC3E}">
        <p14:creationId xmlns:p14="http://schemas.microsoft.com/office/powerpoint/2010/main" val="115870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1. Frontend</a:t>
            </a:r>
            <a:endParaRPr lang="en-US" b="1" dirty="0"/>
          </a:p>
          <a:p>
            <a:r>
              <a:rPr lang="en-US" dirty="0"/>
              <a:t>HTML, CSS, JavaScript </a:t>
            </a:r>
          </a:p>
          <a:p>
            <a:r>
              <a:rPr lang="en-US" dirty="0" smtClean="0"/>
              <a:t>React.js: for </a:t>
            </a:r>
            <a:r>
              <a:rPr lang="en-US" dirty="0"/>
              <a:t>dynamic and responsive </a:t>
            </a:r>
            <a:r>
              <a:rPr lang="en-US" dirty="0" smtClean="0"/>
              <a:t>UI</a:t>
            </a:r>
          </a:p>
          <a:p>
            <a:pPr marL="0" indent="0">
              <a:buNone/>
            </a:pPr>
            <a:r>
              <a:rPr lang="en-US" b="1" dirty="0" smtClean="0"/>
              <a:t>2. Backend</a:t>
            </a:r>
            <a:endParaRPr lang="en-US" b="1" dirty="0"/>
          </a:p>
          <a:p>
            <a:r>
              <a:rPr lang="en-US" dirty="0"/>
              <a:t>Node.js </a:t>
            </a:r>
          </a:p>
          <a:p>
            <a:r>
              <a:rPr lang="en-US" dirty="0" smtClean="0"/>
              <a:t>Express.js: framework </a:t>
            </a:r>
            <a:r>
              <a:rPr lang="en-US" dirty="0"/>
              <a:t>for handling server-side logic and </a:t>
            </a:r>
            <a:r>
              <a:rPr lang="en-US" dirty="0" smtClean="0"/>
              <a:t>APIs</a:t>
            </a:r>
          </a:p>
          <a:p>
            <a:pPr marL="0" indent="0">
              <a:buNone/>
            </a:pPr>
            <a:r>
              <a:rPr lang="en-US" b="1" dirty="0" smtClean="0"/>
              <a:t>3. Database</a:t>
            </a:r>
            <a:endParaRPr lang="en-US" b="1" dirty="0"/>
          </a:p>
          <a:p>
            <a:r>
              <a:rPr lang="en-US" dirty="0" smtClean="0"/>
              <a:t>MySQL: for </a:t>
            </a:r>
            <a:r>
              <a:rPr lang="en-US" dirty="0"/>
              <a:t>storing user, donation, and volunteer </a:t>
            </a:r>
            <a:r>
              <a:rPr lang="en-US" dirty="0" smtClean="0"/>
              <a:t>data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4. Tools </a:t>
            </a:r>
            <a:r>
              <a:rPr lang="en-US" b="1" dirty="0"/>
              <a:t>&amp; Testing</a:t>
            </a:r>
          </a:p>
          <a:p>
            <a:r>
              <a:rPr lang="en-US" dirty="0" smtClean="0"/>
              <a:t>Jira: task </a:t>
            </a:r>
            <a:r>
              <a:rPr lang="en-US" dirty="0"/>
              <a:t>management and progress </a:t>
            </a:r>
            <a:r>
              <a:rPr lang="en-US" dirty="0" smtClean="0"/>
              <a:t>tracking </a:t>
            </a:r>
            <a:endParaRPr lang="en-US" dirty="0"/>
          </a:p>
          <a:p>
            <a:r>
              <a:rPr lang="en-US" dirty="0" smtClean="0"/>
              <a:t>Postman: API </a:t>
            </a:r>
            <a:r>
              <a:rPr lang="en-US" dirty="0"/>
              <a:t>testing and backend </a:t>
            </a:r>
            <a:r>
              <a:rPr lang="en-US" dirty="0" smtClean="0"/>
              <a:t>validation</a:t>
            </a:r>
            <a:endParaRPr lang="en-US" dirty="0"/>
          </a:p>
          <a:p>
            <a:r>
              <a:rPr lang="en-US" dirty="0" smtClean="0"/>
              <a:t>GitHub: version </a:t>
            </a:r>
            <a:r>
              <a:rPr lang="en-US" dirty="0"/>
              <a:t>control and </a:t>
            </a:r>
            <a:r>
              <a:rPr lang="en-US" dirty="0" smtClean="0"/>
              <a:t>collaboration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636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6318288"/>
              </p:ext>
            </p:extLst>
          </p:nvPr>
        </p:nvGraphicFramePr>
        <p:xfrm>
          <a:off x="414779" y="1159498"/>
          <a:ext cx="11255606" cy="5156459"/>
        </p:xfrm>
        <a:graphic>
          <a:graphicData uri="http://schemas.openxmlformats.org/drawingml/2006/table">
            <a:tbl>
              <a:tblPr/>
              <a:tblGrid>
                <a:gridCol w="2651115">
                  <a:extLst>
                    <a:ext uri="{9D8B030D-6E8A-4147-A177-3AD203B41FA5}">
                      <a16:colId xmlns:a16="http://schemas.microsoft.com/office/drawing/2014/main" val="2571948976"/>
                    </a:ext>
                  </a:extLst>
                </a:gridCol>
                <a:gridCol w="4362709">
                  <a:extLst>
                    <a:ext uri="{9D8B030D-6E8A-4147-A177-3AD203B41FA5}">
                      <a16:colId xmlns:a16="http://schemas.microsoft.com/office/drawing/2014/main" val="3749676818"/>
                    </a:ext>
                  </a:extLst>
                </a:gridCol>
                <a:gridCol w="4241782">
                  <a:extLst>
                    <a:ext uri="{9D8B030D-6E8A-4147-A177-3AD203B41FA5}">
                      <a16:colId xmlns:a16="http://schemas.microsoft.com/office/drawing/2014/main" val="1541009676"/>
                    </a:ext>
                  </a:extLst>
                </a:gridCol>
              </a:tblGrid>
              <a:tr h="769969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Existing System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System </a:t>
                      </a:r>
                      <a:r>
                        <a:rPr lang="en-US" sz="16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(CareConnect)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978032"/>
                  </a:ext>
                </a:extLst>
              </a:tr>
              <a:tr h="76996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Donation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GoFundMe provides online fundraising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Integrated donation management with tracking and transparency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339219"/>
                  </a:ext>
                </a:extLst>
              </a:tr>
              <a:tr h="76996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Volunteer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VolunteerMatch focuses only on volunteer matching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Combined volunteer registration, scheduling, and participation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905849"/>
                  </a:ext>
                </a:extLst>
              </a:tr>
              <a:tr h="76996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NGO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Salesforce Nonprofit Cloud offers advanced CRM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 and accessible management for small and local organizations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737602"/>
                  </a:ext>
                </a:extLst>
              </a:tr>
              <a:tr h="76996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Transparency &amp; Trust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Charity Navigator provides evaluation reports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updates and transparent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donation,</a:t>
                      </a: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volunteer 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2927"/>
                  </a:ext>
                </a:extLst>
              </a:tr>
              <a:tr h="53664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Separate specialized platforms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Unified all-in-one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888985"/>
                  </a:ext>
                </a:extLst>
              </a:tr>
              <a:tr h="76996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 to complex interfaces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Simple, user-friendly interface designed for 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6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868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CareConnect provides an integrated platform for donation and volunteer management.</a:t>
            </a:r>
          </a:p>
          <a:p>
            <a:r>
              <a:rPr lang="en-US" dirty="0"/>
              <a:t>It reduces manual work and increases efficiency for organizations.</a:t>
            </a:r>
          </a:p>
          <a:p>
            <a:r>
              <a:rPr lang="en-US" dirty="0"/>
              <a:t>It helps solve real-world social coordination problems using web technology.</a:t>
            </a:r>
          </a:p>
          <a:p>
            <a:r>
              <a:rPr lang="en-US" dirty="0"/>
              <a:t>It has future scope for mobile app and </a:t>
            </a:r>
            <a:r>
              <a:rPr lang="en-US"/>
              <a:t>real-time </a:t>
            </a:r>
            <a:r>
              <a:rPr lang="en-US" smtClean="0"/>
              <a:t>updates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071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You!!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525</TotalTime>
  <Words>768</Words>
  <Application>Microsoft Office PowerPoint</Application>
  <PresentationFormat>Widescreen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Franklin Gothic Demi</vt:lpstr>
      <vt:lpstr>IITR_PPT_Template</vt:lpstr>
      <vt:lpstr>CareConnect</vt:lpstr>
      <vt:lpstr>Outline</vt:lpstr>
      <vt:lpstr>Introduction</vt:lpstr>
      <vt:lpstr>Problem Statement</vt:lpstr>
      <vt:lpstr>Challenges</vt:lpstr>
      <vt:lpstr>Literature Review </vt:lpstr>
      <vt:lpstr>Objectives</vt:lpstr>
      <vt:lpstr>Methodology</vt:lpstr>
      <vt:lpstr>Feasibility Study</vt:lpstr>
      <vt:lpstr>Features</vt:lpstr>
      <vt:lpstr>Gantt Chart</vt:lpstr>
      <vt:lpstr>Task Division </vt:lpstr>
      <vt:lpstr>Task Division </vt:lpstr>
      <vt:lpstr>Tech Stack</vt:lpstr>
      <vt:lpstr>Comparison</vt:lpstr>
      <vt:lpstr>Conclusion</vt:lpstr>
      <vt:lpstr>Thank You!!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Shreya Maharjan</cp:lastModifiedBy>
  <cp:revision>101</cp:revision>
  <dcterms:created xsi:type="dcterms:W3CDTF">2015-07-18T13:17:54Z</dcterms:created>
  <dcterms:modified xsi:type="dcterms:W3CDTF">2026-05-04T05:02:49Z</dcterms:modified>
  <cp:version>v1</cp:version>
</cp:coreProperties>
</file>